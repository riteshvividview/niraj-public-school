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9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HUB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VividView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663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PRESENTATION · PREPARED FOR CLIENT 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Global Marketplace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 Essentials &amp; Programs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online. Show a receipt. Collect at school.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236098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709160"/>
            <a:ext cx="23609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Multi-school marketplace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1571" y="4709160"/>
            <a:ext cx="3211373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2240" y="4709160"/>
            <a:ext cx="321137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— receipt-based pickup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48182" y="4709160"/>
            <a:ext cx="219090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4825" y="4709160"/>
            <a:ext cx="21909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design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VividView  ·  campushub.app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 online. Show a receipt. Collect at school.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school runs its own workspace listing exactly what a student receives. Nothing is delivered — everything is redeemed in person with a digital receipt.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&amp; Select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school's workspace lists exactly what a student is meant to receive — books, uniform, kit, stationery — plus any programs it's running.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95928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4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0" y="20574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28600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880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 Online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2186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cart, one payment — UPI, cards or net banking. No admission fee, no delivery charge.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44968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47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228600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E0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2880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Receipt at School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32186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receipt with a QR code is generated instantly. Shown at the counter or event gate to collect items or attend.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60520"/>
            <a:ext cx="5440680" cy="54864"/>
          </a:xfrm>
          <a:prstGeom prst="rect">
            <a:avLst/>
          </a:prstGeom>
          <a:solidFill>
            <a:srgbClr val="C245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251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2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663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✗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queues for books, uniform &amp; stationery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✗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what's paid vs. collected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✗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Cash-handling overhead for school staff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✗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run paid programs/events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160520"/>
            <a:ext cx="5440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3251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CAMPUS HUB FIXES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663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paid online, in advance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 collection eliminates disputes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paid-vs-redeemed record for schools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school can post a paid program to reach more families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uses Campus Hub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two clear experiences — a parent workspace tied to one school, and a console the school's own staff runs.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P/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3774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Parent / Student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account tied to their assigned school's workspace — no searching or browsing other schools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exactly what their child is set to receive: books, uniform, stationery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online in a single cart and gets an instant digital receipt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additionally browse and pay for programs/events posted by any school on the platform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3774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 Staff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320040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their own school's workspace — publishing catalogues and programs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fixed book, uniform &amp; stationery lists per class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publishes paid programs and events with seat limits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receipts at the counter or event gate to confirm collection or entry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CATALOGUE · 1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Accounts, Workspace &amp; Essentials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school gets an isolated workspace. Essentials are a fixed, school-set list — not a shopping choice.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402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0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F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&amp; School Workspace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91440" cy="91440"/>
          </a:xfrm>
          <a:prstGeom prst="lin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0720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Logout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mobile-number based, completely password-free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749040"/>
            <a:ext cx="91440" cy="91440"/>
          </a:xfrm>
          <a:prstGeom prst="lin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301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Parent/Student Profile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per user — no family or multi-child switching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572000"/>
            <a:ext cx="91440" cy="91440"/>
          </a:xfrm>
          <a:prstGeom prst="lin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5312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School Workspace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school isolated; no cross-school browsing of essentials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5394960"/>
            <a:ext cx="91440" cy="91440"/>
          </a:xfrm>
          <a:prstGeom prst="line">
            <a:avLst/>
          </a:prstGeom>
          <a:solidFill>
            <a:srgbClr val="2F6F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7608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Interface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in major Indian languages, saved per profile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2402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F6F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69480" y="22402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Essentials Store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27432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uniform &amp; kit, and stationery — exactly what the school has listed. Nothing is picked à la carte; everything is paid for and collected in person.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3474720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3558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List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Class/board-wise fixed list — pay for the full set, collect at school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75120" y="4389120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42702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&amp; Kit Store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confirmed before paying; collected once confirmed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5303520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51846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 &amp; Essentials  </a:t>
            </a: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Bags, notebooks, geometry box — fixed starter-kit bundle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E08E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Programs &amp; Events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part of the platform that works across every school — any school can post a program, and any user can find and pay for it, regardless of their assigned school.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23160"/>
            <a:ext cx="594360" cy="594360"/>
          </a:xfrm>
          <a:prstGeom prst="roundRect">
            <a:avLst>
              <a:gd name="adj" fmla="val 24615"/>
            </a:avLst>
          </a:prstGeom>
          <a:solidFill>
            <a:srgbClr val="E08E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Programs Feed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sports day, annual day, camps, extra classes — posted by any school, visible platform-wide. Filterable by school, category, date or fee.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23160"/>
            <a:ext cx="594360" cy="594360"/>
          </a:xfrm>
          <a:prstGeom prst="roundRect">
            <a:avLst>
              <a:gd name="adj" fmla="val 24615"/>
            </a:avLst>
          </a:prstGeom>
          <a:solidFill>
            <a:srgbClr val="E0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 Details &amp; Seats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venue, description and fee for each program. Live seat availability shown before payment; organiser's contact info displayed.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423160"/>
            <a:ext cx="594360" cy="594360"/>
          </a:xfrm>
          <a:prstGeom prst="roundRect">
            <a:avLst>
              <a:gd name="adj" fmla="val 24615"/>
            </a:avLst>
          </a:prstGeom>
          <a:solidFill>
            <a:srgbClr val="E0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 &amp; Get Ticket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21040" y="37033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program fee online in the same cart flow. A QR ticket is generated instantly and shown at entry for verification.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CATALOGUE · 2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Payments, School Console &amp; Platform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payment mechanic, what school staff use to run it, and the backend that makes it all reliable.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3566160" cy="64008"/>
          </a:xfrm>
          <a:prstGeom prst="rect">
            <a:avLst/>
          </a:prstGeom>
          <a:solidFill>
            <a:srgbClr val="C245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&amp; Receipts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Cart &amp; Checkout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+ program fees, one payment. No admission or delivery charge.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739896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11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with QR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instantly; shown at school to collect or enter a program.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837176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7091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History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payment kept in one place, by date and school.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0832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1920240"/>
            <a:ext cx="3566160" cy="6400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School Console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9432" y="2642616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2514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Manager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fixed book/uniform/stationery list per class.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99432" y="3511296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3383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publish events with date, fee and seat count.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99432" y="4379976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42519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/ QR Verification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receipt to confirm collection or entry.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9432" y="5248656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5120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Redemption Reports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vs. collected/attended, exportable for accounting.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93024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93024" y="1920240"/>
            <a:ext cx="3566160" cy="64008"/>
          </a:xfrm>
          <a:prstGeom prst="rect">
            <a:avLst/>
          </a:prstGeom>
          <a:solidFill>
            <a:srgbClr val="7B3FBF"/>
          </a:solidFill>
          <a:ln/>
        </p:spPr>
      </p:sp>
      <p:sp>
        <p:nvSpPr>
          <p:cNvPr id="28" name="Text 26"/>
          <p:cNvSpPr/>
          <p:nvPr/>
        </p:nvSpPr>
        <p:spPr>
          <a:xfrm>
            <a:off x="8421624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Foundation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21624" y="2642616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30" name="Text 28"/>
          <p:cNvSpPr/>
          <p:nvPr/>
        </p:nvSpPr>
        <p:spPr>
          <a:xfrm>
            <a:off x="8604504" y="2514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across every school workspace.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21624" y="3511296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32" name="Text 30"/>
          <p:cNvSpPr/>
          <p:nvPr/>
        </p:nvSpPr>
        <p:spPr>
          <a:xfrm>
            <a:off x="8604504" y="3383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 Login System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parents, schools &amp; admins.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21624" y="4379976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34" name="Text 32"/>
          <p:cNvSpPr/>
          <p:nvPr/>
        </p:nvSpPr>
        <p:spPr>
          <a:xfrm>
            <a:off x="8604504" y="42519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alerts, event reminders.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21624" y="5248656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36" name="Text 34"/>
          <p:cNvSpPr/>
          <p:nvPr/>
        </p:nvSpPr>
        <p:spPr>
          <a:xfrm>
            <a:off x="8604504" y="5120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Help &amp; Support
</a:t>
            </a: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Chat/FAQ for payment or receipt issues.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Pages in the parent app &amp; school console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screens in total — the parent/student journey, plus the console school staff use day to 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STUDENT APP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Selector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176272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2267712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9424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OTP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803904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5344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77056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431536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2976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 Essentials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059168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List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8686800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59952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&amp; Kit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10314432" y="23774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05872" y="24688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34" name="Text 32"/>
          <p:cNvSpPr/>
          <p:nvPr/>
        </p:nvSpPr>
        <p:spPr>
          <a:xfrm>
            <a:off x="10405872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387584" y="279806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48640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Events Feed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176272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67712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42" name="Text 40"/>
          <p:cNvSpPr/>
          <p:nvPr/>
        </p:nvSpPr>
        <p:spPr>
          <a:xfrm>
            <a:off x="2267712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49424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Details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3803904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5344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46" name="Text 44"/>
          <p:cNvSpPr/>
          <p:nvPr/>
        </p:nvSpPr>
        <p:spPr>
          <a:xfrm>
            <a:off x="3895344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77056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431536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22976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50" name="Text 48"/>
          <p:cNvSpPr/>
          <p:nvPr/>
        </p:nvSpPr>
        <p:spPr>
          <a:xfrm>
            <a:off x="5522976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04688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Receipt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7059168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50608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54" name="Text 52"/>
          <p:cNvSpPr/>
          <p:nvPr/>
        </p:nvSpPr>
        <p:spPr>
          <a:xfrm>
            <a:off x="7150608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32320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Receipts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8686800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58" name="Text 56"/>
          <p:cNvSpPr/>
          <p:nvPr/>
        </p:nvSpPr>
        <p:spPr>
          <a:xfrm>
            <a:off x="87782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59952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10314432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05872" y="342900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62" name="Text 60"/>
          <p:cNvSpPr/>
          <p:nvPr/>
        </p:nvSpPr>
        <p:spPr>
          <a:xfrm>
            <a:off x="10405872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387584" y="3758184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Support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48640" y="46177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4617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CONSOLE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8640" y="5001768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509320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7474F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1792" y="5422392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Login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2176272" y="5001768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67712" y="509320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7474F"/>
          </a:solidFill>
          <a:ln/>
        </p:spPr>
      </p:sp>
      <p:sp>
        <p:nvSpPr>
          <p:cNvPr id="72" name="Text 70"/>
          <p:cNvSpPr/>
          <p:nvPr/>
        </p:nvSpPr>
        <p:spPr>
          <a:xfrm>
            <a:off x="2267712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249424" y="5422392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Manager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3803904" y="5001768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95344" y="509320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7474F"/>
          </a:solidFill>
          <a:ln/>
        </p:spPr>
      </p:sp>
      <p:sp>
        <p:nvSpPr>
          <p:cNvPr id="76" name="Text 74"/>
          <p:cNvSpPr/>
          <p:nvPr/>
        </p:nvSpPr>
        <p:spPr>
          <a:xfrm>
            <a:off x="3895344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877056" y="5422392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5431536" y="5001768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22976" y="509320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7474F"/>
          </a:solidFill>
          <a:ln/>
        </p:spPr>
      </p:sp>
      <p:sp>
        <p:nvSpPr>
          <p:cNvPr id="80" name="Text 78"/>
          <p:cNvSpPr/>
          <p:nvPr/>
        </p:nvSpPr>
        <p:spPr>
          <a:xfrm>
            <a:off x="5522976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504688" y="5422392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/ QR Scanner</a:t>
            </a:r>
            <a:endParaRPr lang="en-US" sz="830" dirty="0"/>
          </a:p>
        </p:txBody>
      </p:sp>
      <p:sp>
        <p:nvSpPr>
          <p:cNvPr id="82" name="Shape 80"/>
          <p:cNvSpPr/>
          <p:nvPr/>
        </p:nvSpPr>
        <p:spPr>
          <a:xfrm>
            <a:off x="7059168" y="5001768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50608" y="509320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7474F"/>
          </a:solidFill>
          <a:ln/>
        </p:spPr>
      </p:sp>
      <p:sp>
        <p:nvSpPr>
          <p:cNvPr id="84" name="Text 82"/>
          <p:cNvSpPr/>
          <p:nvPr/>
        </p:nvSpPr>
        <p:spPr>
          <a:xfrm>
            <a:off x="7150608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132320" y="5422392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Dashboard</a:t>
            </a:r>
            <a:endParaRPr lang="en-US" sz="830" dirty="0"/>
          </a:p>
        </p:txBody>
      </p:sp>
      <p:sp>
        <p:nvSpPr>
          <p:cNvPr id="86" name="Shape 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 · SUGGESTED, NOT COMMITTED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else could be added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how established school-payment platforms and India's DPDP data-privacy rules handle this exact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566160" cy="64008"/>
          </a:xfrm>
          <a:prstGeom prst="rect">
            <a:avLst/>
          </a:prstGeom>
          <a:solidFill>
            <a:srgbClr val="C245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Engagement &amp; Payments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191256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449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payment reminders (SMS / WhatsApp)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941064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&amp; refunds workflow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690872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445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for full programs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5440680"/>
            <a:ext cx="73152" cy="73152"/>
          </a:xfrm>
          <a:prstGeom prst="line">
            <a:avLst/>
          </a:prstGeom>
          <a:solidFill>
            <a:srgbClr val="C2453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29437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 on programs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19659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70832" y="1965960"/>
            <a:ext cx="3566160" cy="6400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Trust, Privacy &amp; Compliance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99432" y="2679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9432" y="3191256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30449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(India's DPDP Act)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99432" y="3941064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data rights portal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99432" y="4690872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45445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audit logs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99432" y="5440680"/>
            <a:ext cx="73152" cy="73152"/>
          </a:xfrm>
          <a:prstGeom prst="line">
            <a:avLst/>
          </a:prstGeom>
          <a:solidFill>
            <a:srgbClr val="37474F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529437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anomaly detection on payments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93024" y="19659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93024" y="1965960"/>
            <a:ext cx="3566160" cy="64008"/>
          </a:xfrm>
          <a:prstGeom prst="rect">
            <a:avLst/>
          </a:prstGeom>
          <a:solidFill>
            <a:srgbClr val="7B3FBF"/>
          </a:solidFill>
          <a:ln/>
        </p:spPr>
      </p:sp>
      <p:sp>
        <p:nvSpPr>
          <p:cNvPr id="34" name="Text 32"/>
          <p:cNvSpPr/>
          <p:nvPr/>
        </p:nvSpPr>
        <p:spPr>
          <a:xfrm>
            <a:off x="8421624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Platform-Level (at scale)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21624" y="2679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6" name="Text 34"/>
          <p:cNvSpPr/>
          <p:nvPr/>
        </p:nvSpPr>
        <p:spPr>
          <a:xfrm>
            <a:off x="8421624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phase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421624" y="3191256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38" name="Text 36"/>
          <p:cNvSpPr/>
          <p:nvPr/>
        </p:nvSpPr>
        <p:spPr>
          <a:xfrm>
            <a:off x="8604504" y="30449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panel to onboard schools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21624" y="3941064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40" name="Text 38"/>
          <p:cNvSpPr/>
          <p:nvPr/>
        </p:nvSpPr>
        <p:spPr>
          <a:xfrm>
            <a:off x="8604504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demand analytics for stock forecasting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421624" y="4690872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42" name="Text 40"/>
          <p:cNvSpPr/>
          <p:nvPr/>
        </p:nvSpPr>
        <p:spPr>
          <a:xfrm>
            <a:off x="8604504" y="45445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Offline-friendly, low-data mode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21624" y="5440680"/>
            <a:ext cx="73152" cy="73152"/>
          </a:xfrm>
          <a:prstGeom prst="line">
            <a:avLst/>
          </a:prstGeom>
          <a:solidFill>
            <a:srgbClr val="7B3FBF"/>
          </a:solidFill>
          <a:ln/>
        </p:spPr>
      </p:sp>
      <p:sp>
        <p:nvSpPr>
          <p:cNvPr id="44" name="Text 42"/>
          <p:cNvSpPr/>
          <p:nvPr/>
        </p:nvSpPr>
        <p:spPr>
          <a:xfrm>
            <a:off x="8604504" y="529437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Verified-school trust badge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Recommended 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decoupled architecture: Next.js frontend, an API layer, and a Headless CMS — the way most production apps of this size are built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3246120" cy="5486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every screen for the parent app and school console. Fast even on low-end phones and weak networks.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24231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472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920240"/>
            <a:ext cx="32461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30428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 / GraphQL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2697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between frontend and content — handles catalogues, programs, orders and receipts.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0" y="24231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472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19202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920240"/>
            <a:ext cx="3246120" cy="54864"/>
          </a:xfrm>
          <a:prstGeom prst="rect">
            <a:avLst/>
          </a:prstGeom>
          <a:solidFill>
            <a:srgbClr val="E0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75320" y="230428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Headless CMS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2697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schools' catalogues &amp; programs live — editable without touching code.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75320" y="3218688"/>
            <a:ext cx="6675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218688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15984" y="3218688"/>
            <a:ext cx="6675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984" y="3218688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756648" y="3218688"/>
            <a:ext cx="94183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1881" y="3218688"/>
            <a:ext cx="941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Contentful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75320" y="321868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21868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153144" y="3218688"/>
            <a:ext cx="101041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3218688"/>
            <a:ext cx="10104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412394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446227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Frontend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32" y="470916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loads, smooth mobile experience.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246120" y="3977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10712" y="412394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40" name="Text 38"/>
          <p:cNvSpPr/>
          <p:nvPr/>
        </p:nvSpPr>
        <p:spPr>
          <a:xfrm>
            <a:off x="3410712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10712" y="446227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 Content Editing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10712" y="470916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staff update lists via CMS — no developer needed.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5943600" y="3977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08192" y="412394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45" name="Text 43"/>
          <p:cNvSpPr/>
          <p:nvPr/>
        </p:nvSpPr>
        <p:spPr>
          <a:xfrm>
            <a:off x="6108192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08192" y="446227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Separation of Concerns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08192" y="470916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logic stay independent from content.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8641080" y="3977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412394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50" name="Text 48"/>
          <p:cNvSpPr/>
          <p:nvPr/>
        </p:nvSpPr>
        <p:spPr>
          <a:xfrm>
            <a:off x="8805672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805672" y="446227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Easier Scaling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805672" y="470916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school is a content change, not code.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548640" y="51937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9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49824"/>
          <a:ext cx="11091672" cy="944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2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Accounts, orders, receipts, QR 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/ mobile-based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Password-free login for parents &amp; 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/ Stripe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UPI, card, net-banking, refunds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managed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Auto-scaling, low-maintenance deploys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" name="Shape 5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1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week-by-week plan to take this from kickoff to a live pilot in two months.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EE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8 weeks (2 months) — from kickoff to a live pilot running with one onboarded school.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13432" y="3154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472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86584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2523744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23744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23744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51376" y="3154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472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24528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22" name="Text 20"/>
          <p:cNvSpPr/>
          <p:nvPr/>
        </p:nvSpPr>
        <p:spPr>
          <a:xfrm>
            <a:off x="4361688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1688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&amp; Payments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61688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19–30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3154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472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62472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+ Console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31–42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27264" y="3154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472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00416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7576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34" name="Text 32"/>
          <p:cNvSpPr/>
          <p:nvPr/>
        </p:nvSpPr>
        <p:spPr>
          <a:xfrm>
            <a:off x="8037576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37576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Multilingual, Security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37576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43–50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65208" y="3154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472"/>
                </a:solidFill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738360" y="2697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75520" y="283464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F6FED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75520" y="3246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0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51–56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A213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" y="493776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F6F2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5303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this feature scope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566160" y="493776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F6F2"/>
          </a:solidFill>
          <a:ln/>
        </p:spPr>
      </p:sp>
      <p:sp>
        <p:nvSpPr>
          <p:cNvPr id="49" name="Text 47"/>
          <p:cNvSpPr/>
          <p:nvPr/>
        </p:nvSpPr>
        <p:spPr>
          <a:xfrm>
            <a:off x="356616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566160" y="5303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clickable HTML/visual prototype of the key screens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493776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F6F2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9360" y="5303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tech stack and CMS choice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052560" y="493776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F6F2"/>
          </a:solidFill>
          <a:ln/>
        </p:spPr>
      </p:sp>
      <p:sp>
        <p:nvSpPr>
          <p:cNvPr id="55" name="Text 53"/>
          <p:cNvSpPr/>
          <p:nvPr/>
        </p:nvSpPr>
        <p:spPr>
          <a:xfrm>
            <a:off x="905256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052560" y="5303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Discovery &amp; Design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Hub — by VividView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6510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Hub  ·  Concept Presentation by VividView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02975" y="6510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1518</Words>
  <Application>Microsoft Office PowerPoint</Application>
  <PresentationFormat>Widescreen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VividView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Hub — Feature Presentation</dc:title>
  <dc:subject>PptxGenJS Presentation</dc:subject>
  <dc:creator>VividView</dc:creator>
  <cp:lastModifiedBy>contact@thevividview.in</cp:lastModifiedBy>
  <cp:revision>4</cp:revision>
  <dcterms:created xsi:type="dcterms:W3CDTF">2026-07-03T05:58:51Z</dcterms:created>
  <dcterms:modified xsi:type="dcterms:W3CDTF">2026-07-31T00:54:42Z</dcterms:modified>
</cp:coreProperties>
</file>